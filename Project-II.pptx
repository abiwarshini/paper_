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4" r:id="rId10"/>
    <p:sldId id="263" r:id="rId11"/>
    <p:sldId id="267" r:id="rId12"/>
    <p:sldId id="268" r:id="rId13"/>
    <p:sldId id="265" r:id="rId14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9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HYo/ckL60lvIJd/Jd4IT/SaX4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254"/>
      </p:cViewPr>
      <p:guideLst>
        <p:guide orient="horz" pos="2939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0" name="Google Shape;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" name="Google Shape;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" name="Google Shape;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1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57753f8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57753f84d_0_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57753f84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57753f84d_0_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3670591" y="1934454"/>
            <a:ext cx="4850817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1322908" y="2227490"/>
            <a:ext cx="9546183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 txBox="1"/>
          <p:nvPr/>
        </p:nvSpPr>
        <p:spPr>
          <a:xfrm>
            <a:off x="5576860" y="4330794"/>
            <a:ext cx="10045700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.Kalaivani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2557458" y="4434021"/>
            <a:ext cx="3892500" cy="15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23CSR004  - Abhinav 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23CSR012  -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Abiwarshini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23CSR016  - Akila K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1"/>
          <p:cNvSpPr txBox="1">
            <a:spLocks noGrp="1"/>
          </p:cNvSpPr>
          <p:nvPr>
            <p:ph type="title"/>
          </p:nvPr>
        </p:nvSpPr>
        <p:spPr>
          <a:xfrm>
            <a:off x="2751150" y="2690810"/>
            <a:ext cx="9053754" cy="1639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Early Malnutrition Prediction and Decision Support System </a:t>
            </a:r>
            <a:b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Google Shape;3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37" y="953023"/>
            <a:ext cx="3739847" cy="186641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"/>
          <p:cNvSpPr txBox="1"/>
          <p:nvPr/>
        </p:nvSpPr>
        <p:spPr>
          <a:xfrm>
            <a:off x="3359061" y="588956"/>
            <a:ext cx="785926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 ENGINEERING COLLEGE</a:t>
            </a:r>
            <a:r>
              <a:rPr lang="en-US" sz="2400" b="1" i="0" u="none" strike="noStrike" cap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5463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 ERODE-638060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2400" b="1" i="0" u="none" strike="noStrike" cap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24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>
            <a:spLocks noGrp="1"/>
          </p:cNvSpPr>
          <p:nvPr>
            <p:ph type="sldNum" idx="12"/>
          </p:nvPr>
        </p:nvSpPr>
        <p:spPr>
          <a:xfrm>
            <a:off x="11752034" y="6337929"/>
            <a:ext cx="245109" cy="32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4058780" y="525473"/>
            <a:ext cx="436198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SzPts val="1400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4" name="Google Shape;44;p3"/>
          <p:cNvSpPr txBox="1">
            <a:spLocks noGrp="1"/>
          </p:cNvSpPr>
          <p:nvPr>
            <p:ph type="subTitle" idx="1"/>
          </p:nvPr>
        </p:nvSpPr>
        <p:spPr>
          <a:xfrm>
            <a:off x="1569224" y="1154461"/>
            <a:ext cx="9341100" cy="449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342900">
              <a:buFont typeface="Wingdings" panose="05000000000000000000" pitchFamily="2" charset="2"/>
              <a:buChar char="§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Wingdings" panose="05000000000000000000" pitchFamily="2" charset="2"/>
              <a:buChar char="§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Wingdings" panose="05000000000000000000" pitchFamily="2" charset="2"/>
              <a:buChar char="§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Stunting and wasting lead to poor physical and cognitive development. </a:t>
            </a: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systems detect malnutrition only after severe symptoms appear. </a:t>
            </a: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screening methods are time-consuming and prone to errors. </a:t>
            </a: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datasets reduce prediction accuracy for minority classes. </a:t>
            </a: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vulnerable children is essential for timely intervention. </a:t>
            </a: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predictive systems can support healthcare workers in decision making. </a:t>
            </a: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accurate, explainable, and scalable malnutrition prediction systems.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AD7F8B-C0F3-3683-9E3B-B5BFF6CD2F56}"/>
              </a:ext>
            </a:extLst>
          </p:cNvPr>
          <p:cNvSpPr txBox="1"/>
          <p:nvPr/>
        </p:nvSpPr>
        <p:spPr>
          <a:xfrm>
            <a:off x="1765870" y="1178212"/>
            <a:ext cx="9590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malnutrition remains a major public health challenge affecting millions of children under five years of age.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>
            <a:spLocks noGrp="1"/>
          </p:cNvSpPr>
          <p:nvPr>
            <p:ph type="sldNum" idx="12"/>
          </p:nvPr>
        </p:nvSpPr>
        <p:spPr>
          <a:xfrm>
            <a:off x="11722536" y="6357594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2958058" y="73048"/>
            <a:ext cx="584307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SzPts val="14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z="1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16341C-DECE-3276-8C05-DFB2D78AA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73501"/>
              </p:ext>
            </p:extLst>
          </p:nvPr>
        </p:nvGraphicFramePr>
        <p:xfrm>
          <a:off x="1504336" y="1057104"/>
          <a:ext cx="10463310" cy="4454298"/>
        </p:xfrm>
        <a:graphic>
          <a:graphicData uri="http://schemas.openxmlformats.org/drawingml/2006/table">
            <a:tbl>
              <a:tblPr/>
              <a:tblGrid>
                <a:gridCol w="2092662">
                  <a:extLst>
                    <a:ext uri="{9D8B030D-6E8A-4147-A177-3AD203B41FA5}">
                      <a16:colId xmlns:a16="http://schemas.microsoft.com/office/drawing/2014/main" val="2754003667"/>
                    </a:ext>
                  </a:extLst>
                </a:gridCol>
                <a:gridCol w="2092662">
                  <a:extLst>
                    <a:ext uri="{9D8B030D-6E8A-4147-A177-3AD203B41FA5}">
                      <a16:colId xmlns:a16="http://schemas.microsoft.com/office/drawing/2014/main" val="2828041082"/>
                    </a:ext>
                  </a:extLst>
                </a:gridCol>
                <a:gridCol w="2092662">
                  <a:extLst>
                    <a:ext uri="{9D8B030D-6E8A-4147-A177-3AD203B41FA5}">
                      <a16:colId xmlns:a16="http://schemas.microsoft.com/office/drawing/2014/main" val="1805387558"/>
                    </a:ext>
                  </a:extLst>
                </a:gridCol>
                <a:gridCol w="2092662">
                  <a:extLst>
                    <a:ext uri="{9D8B030D-6E8A-4147-A177-3AD203B41FA5}">
                      <a16:colId xmlns:a16="http://schemas.microsoft.com/office/drawing/2014/main" val="3355853989"/>
                    </a:ext>
                  </a:extLst>
                </a:gridCol>
                <a:gridCol w="2092662">
                  <a:extLst>
                    <a:ext uri="{9D8B030D-6E8A-4147-A177-3AD203B41FA5}">
                      <a16:colId xmlns:a16="http://schemas.microsoft.com/office/drawing/2014/main" val="317194139"/>
                    </a:ext>
                  </a:extLst>
                </a:gridCol>
              </a:tblGrid>
              <a:tr h="17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931014"/>
                  </a:ext>
                </a:extLst>
              </a:tr>
              <a:tr h="103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 Mamun Hasan et al.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of Undernutrition and Identification of Its Influencing Predictors Among Under-Five Children Using Explainable Machine Learning Algorithms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XGBoost, ANN, RF, SHAP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354618"/>
                  </a:ext>
                </a:extLst>
              </a:tr>
              <a:tr h="1160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Ahmed et al.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Advancing Predictive Analytics in Child Malnutrition: Machine, Ensemble and Deep Learning Models with Balanced Class Distribution for Early Detection of Stunting and Wasting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ML, Ensemble Learning, Deep Learning</a:t>
                      </a:r>
                    </a:p>
                  </a:txBody>
                  <a:tcPr marL="21725" marR="21725" marT="10863" marB="10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7754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4B5D93-7901-54C0-0BCD-1C5853AAC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8200"/>
              </p:ext>
            </p:extLst>
          </p:nvPr>
        </p:nvGraphicFramePr>
        <p:xfrm>
          <a:off x="1400536" y="729205"/>
          <a:ext cx="10006605" cy="5289631"/>
        </p:xfrm>
        <a:graphic>
          <a:graphicData uri="http://schemas.openxmlformats.org/drawingml/2006/table">
            <a:tbl>
              <a:tblPr/>
              <a:tblGrid>
                <a:gridCol w="2001321">
                  <a:extLst>
                    <a:ext uri="{9D8B030D-6E8A-4147-A177-3AD203B41FA5}">
                      <a16:colId xmlns:a16="http://schemas.microsoft.com/office/drawing/2014/main" val="1759403689"/>
                    </a:ext>
                  </a:extLst>
                </a:gridCol>
                <a:gridCol w="2001321">
                  <a:extLst>
                    <a:ext uri="{9D8B030D-6E8A-4147-A177-3AD203B41FA5}">
                      <a16:colId xmlns:a16="http://schemas.microsoft.com/office/drawing/2014/main" val="1576466686"/>
                    </a:ext>
                  </a:extLst>
                </a:gridCol>
                <a:gridCol w="2001321">
                  <a:extLst>
                    <a:ext uri="{9D8B030D-6E8A-4147-A177-3AD203B41FA5}">
                      <a16:colId xmlns:a16="http://schemas.microsoft.com/office/drawing/2014/main" val="1806614043"/>
                    </a:ext>
                  </a:extLst>
                </a:gridCol>
                <a:gridCol w="2001321">
                  <a:extLst>
                    <a:ext uri="{9D8B030D-6E8A-4147-A177-3AD203B41FA5}">
                      <a16:colId xmlns:a16="http://schemas.microsoft.com/office/drawing/2014/main" val="2926804812"/>
                    </a:ext>
                  </a:extLst>
                </a:gridCol>
                <a:gridCol w="2001321">
                  <a:extLst>
                    <a:ext uri="{9D8B030D-6E8A-4147-A177-3AD203B41FA5}">
                      <a16:colId xmlns:a16="http://schemas.microsoft.com/office/drawing/2014/main" val="340269594"/>
                    </a:ext>
                  </a:extLst>
                </a:gridCol>
              </a:tblGrid>
              <a:tr h="308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751679"/>
                  </a:ext>
                </a:extLst>
              </a:tr>
              <a:tr h="1450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Ahsan et al.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Approaches for Predicting Child Malnutrition in Developing Countries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XGBoost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576091"/>
                  </a:ext>
                </a:extLst>
              </a:tr>
              <a:tr h="1116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Rahman et al.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 Nutrition Risk Prediction Using Deep Learning Approaches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Neural Networks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825448"/>
                  </a:ext>
                </a:extLst>
              </a:tr>
              <a:tr h="116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Kumar et al.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Detection of Stunting in Children Using Ensemble Learning Models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Learning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854034"/>
                  </a:ext>
                </a:extLst>
              </a:tr>
              <a:tr h="1249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Sharma et al.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 for Childhood Malnutrition Assessment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 Random Forest</a:t>
                      </a:r>
                    </a:p>
                  </a:txBody>
                  <a:tcPr marL="19193" marR="19193" marT="9597" marB="9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725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24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>
            <a:spLocks noGrp="1"/>
          </p:cNvSpPr>
          <p:nvPr>
            <p:ph type="sldNum" idx="12"/>
          </p:nvPr>
        </p:nvSpPr>
        <p:spPr>
          <a:xfrm>
            <a:off x="11791363" y="6446084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2027930" y="3493577"/>
            <a:ext cx="903584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1E0D4B-85AF-0269-0542-0CB0C5F27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049688"/>
              </p:ext>
            </p:extLst>
          </p:nvPr>
        </p:nvGraphicFramePr>
        <p:xfrm>
          <a:off x="1244647" y="787011"/>
          <a:ext cx="10602410" cy="5283977"/>
        </p:xfrm>
        <a:graphic>
          <a:graphicData uri="http://schemas.openxmlformats.org/drawingml/2006/table">
            <a:tbl>
              <a:tblPr/>
              <a:tblGrid>
                <a:gridCol w="2583491">
                  <a:extLst>
                    <a:ext uri="{9D8B030D-6E8A-4147-A177-3AD203B41FA5}">
                      <a16:colId xmlns:a16="http://schemas.microsoft.com/office/drawing/2014/main" val="2934964526"/>
                    </a:ext>
                  </a:extLst>
                </a:gridCol>
                <a:gridCol w="1467521">
                  <a:extLst>
                    <a:ext uri="{9D8B030D-6E8A-4147-A177-3AD203B41FA5}">
                      <a16:colId xmlns:a16="http://schemas.microsoft.com/office/drawing/2014/main" val="3785103268"/>
                    </a:ext>
                  </a:extLst>
                </a:gridCol>
                <a:gridCol w="2740056">
                  <a:extLst>
                    <a:ext uri="{9D8B030D-6E8A-4147-A177-3AD203B41FA5}">
                      <a16:colId xmlns:a16="http://schemas.microsoft.com/office/drawing/2014/main" val="2195479251"/>
                    </a:ext>
                  </a:extLst>
                </a:gridCol>
                <a:gridCol w="2740056">
                  <a:extLst>
                    <a:ext uri="{9D8B030D-6E8A-4147-A177-3AD203B41FA5}">
                      <a16:colId xmlns:a16="http://schemas.microsoft.com/office/drawing/2014/main" val="428765690"/>
                    </a:ext>
                  </a:extLst>
                </a:gridCol>
                <a:gridCol w="1071286">
                  <a:extLst>
                    <a:ext uri="{9D8B030D-6E8A-4147-A177-3AD203B41FA5}">
                      <a16:colId xmlns:a16="http://schemas.microsoft.com/office/drawing/2014/main" val="408062322"/>
                    </a:ext>
                  </a:extLst>
                </a:gridCol>
              </a:tblGrid>
              <a:tr h="245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555132"/>
                  </a:ext>
                </a:extLst>
              </a:tr>
              <a:tr h="590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Hossain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Framework for Childhood Growth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33933"/>
                  </a:ext>
                </a:extLst>
              </a:tr>
              <a:tr h="590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Analytics for Child Health and Nutrition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638936"/>
                  </a:ext>
                </a:extLst>
              </a:tr>
              <a:tr h="590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Islam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AI-Based Nutritional Risk Assessment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SHAP, 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70972"/>
                  </a:ext>
                </a:extLst>
              </a:tr>
              <a:tr h="762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Gupta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Machine Learning for Stunting and Wasting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Voting Classifier, 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390658"/>
                  </a:ext>
                </a:extLst>
              </a:tr>
              <a:tr h="590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 Malnutrition Prediction Using Hybrid Deep Learning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016132"/>
                  </a:ext>
                </a:extLst>
              </a:tr>
              <a:tr h="590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Verma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Growth Monitoring and Nutrition Recommendation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Neural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4358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C6AD01-589F-4E14-89F2-DE35310F4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067525"/>
              </p:ext>
            </p:extLst>
          </p:nvPr>
        </p:nvGraphicFramePr>
        <p:xfrm>
          <a:off x="1064480" y="1336310"/>
          <a:ext cx="10714082" cy="3200400"/>
        </p:xfrm>
        <a:graphic>
          <a:graphicData uri="http://schemas.openxmlformats.org/drawingml/2006/table">
            <a:tbl>
              <a:tblPr/>
              <a:tblGrid>
                <a:gridCol w="2440025">
                  <a:extLst>
                    <a:ext uri="{9D8B030D-6E8A-4147-A177-3AD203B41FA5}">
                      <a16:colId xmlns:a16="http://schemas.microsoft.com/office/drawing/2014/main" val="3763351653"/>
                    </a:ext>
                  </a:extLst>
                </a:gridCol>
                <a:gridCol w="2440025">
                  <a:extLst>
                    <a:ext uri="{9D8B030D-6E8A-4147-A177-3AD203B41FA5}">
                      <a16:colId xmlns:a16="http://schemas.microsoft.com/office/drawing/2014/main" val="1275924663"/>
                    </a:ext>
                  </a:extLst>
                </a:gridCol>
                <a:gridCol w="2440025">
                  <a:extLst>
                    <a:ext uri="{9D8B030D-6E8A-4147-A177-3AD203B41FA5}">
                      <a16:colId xmlns:a16="http://schemas.microsoft.com/office/drawing/2014/main" val="2899013838"/>
                    </a:ext>
                  </a:extLst>
                </a:gridCol>
                <a:gridCol w="2440025">
                  <a:extLst>
                    <a:ext uri="{9D8B030D-6E8A-4147-A177-3AD203B41FA5}">
                      <a16:colId xmlns:a16="http://schemas.microsoft.com/office/drawing/2014/main" val="2474721820"/>
                    </a:ext>
                  </a:extLst>
                </a:gridCol>
                <a:gridCol w="953982">
                  <a:extLst>
                    <a:ext uri="{9D8B030D-6E8A-4147-A177-3AD203B41FA5}">
                      <a16:colId xmlns:a16="http://schemas.microsoft.com/office/drawing/2014/main" val="1090403668"/>
                    </a:ext>
                  </a:extLst>
                </a:gridCol>
              </a:tblGrid>
              <a:tr h="590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Data Learning Techniques for Childhood Malnutrition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SMOTE, 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72569"/>
                  </a:ext>
                </a:extLst>
              </a:tr>
              <a:tr h="590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Roy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Deep Learning for Early Detection of Wasting Among Children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LSTM, SHAP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70572"/>
                  </a:ext>
                </a:extLst>
              </a:tr>
              <a:tr h="93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Chandra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Decision Support System for ICDS Child Nutrition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Ensemble Learning, Explainable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333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11838038" y="6508312"/>
            <a:ext cx="245109" cy="28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73" name="Google Shape;73;p18"/>
          <p:cNvSpPr txBox="1"/>
          <p:nvPr/>
        </p:nvSpPr>
        <p:spPr>
          <a:xfrm>
            <a:off x="4058780" y="525473"/>
            <a:ext cx="436198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74" name="Google Shape;74;p18"/>
          <p:cNvSpPr txBox="1"/>
          <p:nvPr/>
        </p:nvSpPr>
        <p:spPr>
          <a:xfrm>
            <a:off x="2037144" y="2090192"/>
            <a:ext cx="8021256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models outperform traditional ML methods.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datasets improve classification performance.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helps identify risk factors.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focus only on prediction.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decision-support systems exist.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57753f84d_0_0"/>
          <p:cNvSpPr txBox="1">
            <a:spLocks noGrp="1"/>
          </p:cNvSpPr>
          <p:nvPr>
            <p:ph type="ctrTitle"/>
          </p:nvPr>
        </p:nvSpPr>
        <p:spPr>
          <a:xfrm>
            <a:off x="3828675" y="357100"/>
            <a:ext cx="5787000" cy="55399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3600" dirty="0"/>
              <a:t>Research Gap</a:t>
            </a:r>
            <a:endParaRPr sz="3300" b="1" dirty="0"/>
          </a:p>
        </p:txBody>
      </p:sp>
      <p:sp>
        <p:nvSpPr>
          <p:cNvPr id="81" name="Google Shape;81;g3c57753f84d_0_0"/>
          <p:cNvSpPr txBox="1">
            <a:spLocks noGrp="1"/>
          </p:cNvSpPr>
          <p:nvPr>
            <p:ph type="subTitle" idx="1"/>
          </p:nvPr>
        </p:nvSpPr>
        <p:spPr>
          <a:xfrm>
            <a:off x="1480875" y="1495050"/>
            <a:ext cx="9728700" cy="369331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b="1" dirty="0"/>
              <a:t>Literature reveals several limitations:</a:t>
            </a:r>
          </a:p>
          <a:p>
            <a:endParaRPr lang="en-IN" sz="2400" b="1" dirty="0"/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sz="2400" dirty="0"/>
              <a:t>Most studies focus only on prediction accuracy. 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sz="2400" dirty="0"/>
              <a:t>Limited use of Explainable AI. 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sz="2400" dirty="0"/>
              <a:t>No personalized nutrition recommendation system. 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sz="2400" dirty="0"/>
              <a:t>Lack of priority ranking for vulnerable children. 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sz="2400" dirty="0"/>
              <a:t>No integrated dashboard for ICDS workers. 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sz="2400" dirty="0"/>
              <a:t>Growth monitoring and intervention support are often missing. 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sz="2400" dirty="0"/>
              <a:t>Deep Learning models are underutilized for longitudinal child growth analysis. </a:t>
            </a:r>
          </a:p>
        </p:txBody>
      </p:sp>
      <p:sp>
        <p:nvSpPr>
          <p:cNvPr id="82" name="Google Shape;82;g3c57753f84d_0_0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ctrTitle"/>
          </p:nvPr>
        </p:nvSpPr>
        <p:spPr>
          <a:xfrm>
            <a:off x="3958229" y="313258"/>
            <a:ext cx="374857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11700387" y="6526927"/>
            <a:ext cx="508792" cy="34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5661A-D1DB-2720-37B1-B7ECB70BF52C}"/>
              </a:ext>
            </a:extLst>
          </p:cNvPr>
          <p:cNvSpPr txBox="1"/>
          <p:nvPr/>
        </p:nvSpPr>
        <p:spPr>
          <a:xfrm>
            <a:off x="4917622" y="1725613"/>
            <a:ext cx="520860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Data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Explanation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Recommendation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Ranking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ICDS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68768-44A9-1ED1-3FA3-F46255F0CAAB}"/>
              </a:ext>
            </a:extLst>
          </p:cNvPr>
          <p:cNvSpPr txBox="1"/>
          <p:nvPr/>
        </p:nvSpPr>
        <p:spPr>
          <a:xfrm>
            <a:off x="4271057" y="958450"/>
            <a:ext cx="34357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57753f84d_0_8"/>
          <p:cNvSpPr txBox="1">
            <a:spLocks noGrp="1"/>
          </p:cNvSpPr>
          <p:nvPr>
            <p:ph type="sldNum" idx="12"/>
          </p:nvPr>
        </p:nvSpPr>
        <p:spPr>
          <a:xfrm>
            <a:off x="11034279" y="6514910"/>
            <a:ext cx="245100" cy="32130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0A0835-56A7-D097-0FC0-BD53E78A38AC}"/>
              </a:ext>
            </a:extLst>
          </p:cNvPr>
          <p:cNvSpPr txBox="1"/>
          <p:nvPr/>
        </p:nvSpPr>
        <p:spPr>
          <a:xfrm>
            <a:off x="4940209" y="320674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7E857-E920-EA29-FAD4-E9A721895D8F}"/>
              </a:ext>
            </a:extLst>
          </p:cNvPr>
          <p:cNvSpPr txBox="1"/>
          <p:nvPr/>
        </p:nvSpPr>
        <p:spPr>
          <a:xfrm>
            <a:off x="1323119" y="1523668"/>
            <a:ext cx="97111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Aim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AI-powered system for early detection of child malnutrition and decision support for ICDS workers.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stunting and wasting risk.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children into Low, Medium, and High Risk groups.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Explainable AI for transparent predictions.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nutrition recommendations.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high-risk children.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monitoring dashboard for ICDS workers.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intervention planning and child health outcomes.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BB567-E09E-0619-045E-204E3C6A2A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6E6FB3-F20F-7B6A-3961-4C4935CA10AD}"/>
              </a:ext>
            </a:extLst>
          </p:cNvPr>
          <p:cNvSpPr txBox="1"/>
          <p:nvPr/>
        </p:nvSpPr>
        <p:spPr>
          <a:xfrm>
            <a:off x="4940209" y="216501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D71D4-ACC6-C7C5-B571-3E691E9FFC35}"/>
              </a:ext>
            </a:extLst>
          </p:cNvPr>
          <p:cNvSpPr txBox="1"/>
          <p:nvPr/>
        </p:nvSpPr>
        <p:spPr>
          <a:xfrm>
            <a:off x="1286719" y="1351508"/>
            <a:ext cx="961856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work extends existing studies by integrating: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using SHAP.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nutrition recommendation engine.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priority ranking mechanism.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ICDS worker decision-support dashboard.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malnutrition management framework.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prevention rather than post-detection reporting.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Contribution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existing research that only predicts malnutrition, our system provides prediction, explanation, recommendation, prioritization, and monitoring in a single platform.</a:t>
            </a:r>
          </a:p>
        </p:txBody>
      </p:sp>
    </p:spTree>
    <p:extLst>
      <p:ext uri="{BB962C8B-B14F-4D97-AF65-F5344CB8AC3E}">
        <p14:creationId xmlns:p14="http://schemas.microsoft.com/office/powerpoint/2010/main" val="1149545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110B5-93DB-8A32-863D-0CB285FF9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117B5-8341-5188-EE70-2C82E091F7E4}"/>
              </a:ext>
            </a:extLst>
          </p:cNvPr>
          <p:cNvSpPr txBox="1"/>
          <p:nvPr/>
        </p:nvSpPr>
        <p:spPr>
          <a:xfrm>
            <a:off x="4435998" y="204926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20146-0D6B-8B3C-003B-E671BEB5549F}"/>
              </a:ext>
            </a:extLst>
          </p:cNvPr>
          <p:cNvSpPr txBox="1"/>
          <p:nvPr/>
        </p:nvSpPr>
        <p:spPr>
          <a:xfrm>
            <a:off x="3048965" y="1189700"/>
            <a:ext cx="609407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malnutrition risk.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prediction accuracy.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resource allocation by ICDS workers.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nutrition guidance.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severe malnutrition cases.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child growth monitoring.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healthcare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192506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ctrTitle"/>
          </p:nvPr>
        </p:nvSpPr>
        <p:spPr>
          <a:xfrm>
            <a:off x="3706761" y="2936557"/>
            <a:ext cx="103632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ldNum" idx="12"/>
          </p:nvPr>
        </p:nvSpPr>
        <p:spPr>
          <a:xfrm>
            <a:off x="11673376" y="6396923"/>
            <a:ext cx="361308" cy="1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800</Words>
  <Application>Microsoft Office PowerPoint</Application>
  <PresentationFormat>Widescreen</PresentationFormat>
  <Paragraphs>205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AI-Based Early Malnutrition Prediction and Decision Support System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Gap</vt:lpstr>
      <vt:lpstr>Proposed System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Gokul Senthilkumar</dc:creator>
  <cp:lastModifiedBy>Akila Krishnasamy</cp:lastModifiedBy>
  <cp:revision>4</cp:revision>
  <dcterms:created xsi:type="dcterms:W3CDTF">2023-02-03T06:11:18Z</dcterms:created>
  <dcterms:modified xsi:type="dcterms:W3CDTF">2026-06-24T16:51:11Z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ICV">
    <vt:lpwstr>CCA21B7555E24D3FB40348EB3CE2AD24</vt:lpwstr>
  </property>
  <property fmtid="{D5CDD505-2E9C-101B-9397-08002B2CF9AE}" pid="4" name="KSOProductBuildVer">
    <vt:lpwstr>1033-11.2.0.11440</vt:lpwstr>
  </property>
</Properties>
</file>